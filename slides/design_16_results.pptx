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0" r:id="rId2"/>
    <p:sldId id="298" r:id="rId3"/>
    <p:sldId id="299" r:id="rId4"/>
    <p:sldId id="328" r:id="rId5"/>
    <p:sldId id="327" r:id="rId6"/>
    <p:sldId id="313" r:id="rId7"/>
    <p:sldId id="301" r:id="rId8"/>
    <p:sldId id="329" r:id="rId9"/>
    <p:sldId id="314" r:id="rId10"/>
    <p:sldId id="323" r:id="rId11"/>
    <p:sldId id="302" r:id="rId12"/>
    <p:sldId id="316" r:id="rId13"/>
    <p:sldId id="332" r:id="rId14"/>
    <p:sldId id="333" r:id="rId15"/>
    <p:sldId id="315" r:id="rId16"/>
    <p:sldId id="317" r:id="rId17"/>
    <p:sldId id="324" r:id="rId18"/>
    <p:sldId id="325" r:id="rId19"/>
    <p:sldId id="318" r:id="rId20"/>
    <p:sldId id="331" r:id="rId21"/>
    <p:sldId id="319" r:id="rId22"/>
    <p:sldId id="322" r:id="rId23"/>
    <p:sldId id="320" r:id="rId24"/>
    <p:sldId id="321" r:id="rId25"/>
    <p:sldId id="326" r:id="rId26"/>
    <p:sldId id="303" r:id="rId27"/>
    <p:sldId id="304" r:id="rId28"/>
    <p:sldId id="33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FF"/>
    <a:srgbClr val="333B6C"/>
    <a:srgbClr val="321547"/>
    <a:srgbClr val="A365D1"/>
    <a:srgbClr val="7E36B4"/>
    <a:srgbClr val="6E2F9D"/>
    <a:srgbClr val="58267E"/>
    <a:srgbClr val="401B5B"/>
    <a:srgbClr val="421C5E"/>
    <a:srgbClr val="272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>
      <p:cViewPr>
        <p:scale>
          <a:sx n="93" d="100"/>
          <a:sy n="93" d="100"/>
        </p:scale>
        <p:origin x="1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41323-F648-4450-8A02-1E8CC3147548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23F21-C51D-42CA-97B7-7E85BEA8FF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742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604795-E742-4CCE-ADCB-B36844E1130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25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604795-E742-4CCE-ADCB-B36844E1130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0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3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28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10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9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5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48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47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02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74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52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1547"/>
            </a:gs>
            <a:gs pos="100000">
              <a:srgbClr val="2729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3F513-0650-49B6-A551-A0B1B3B977E5}" type="datetimeFigureOut">
              <a:rPr lang="zh-CN" altLang="en-US" smtClean="0"/>
              <a:t>2016/12/24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11E09-CFEF-4300-BF9D-7616652D29A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594933" y="-557488"/>
            <a:ext cx="12605775" cy="8646438"/>
            <a:chOff x="-594933" y="-557488"/>
            <a:chExt cx="12605775" cy="8646438"/>
          </a:xfrm>
        </p:grpSpPr>
        <p:grpSp>
          <p:nvGrpSpPr>
            <p:cNvPr id="8" name="组合 7"/>
            <p:cNvGrpSpPr/>
            <p:nvPr/>
          </p:nvGrpSpPr>
          <p:grpSpPr>
            <a:xfrm>
              <a:off x="5321114" y="748302"/>
              <a:ext cx="6689728" cy="3667471"/>
              <a:chOff x="5321114" y="748302"/>
              <a:chExt cx="6689728" cy="3667471"/>
            </a:xfrm>
          </p:grpSpPr>
          <p:sp>
            <p:nvSpPr>
              <p:cNvPr id="57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045228" y="1889023"/>
              <a:ext cx="6689728" cy="3667471"/>
              <a:chOff x="5321114" y="748302"/>
              <a:chExt cx="6689728" cy="3667471"/>
            </a:xfrm>
          </p:grpSpPr>
          <p:sp>
            <p:nvSpPr>
              <p:cNvPr id="46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-544948" y="-305650"/>
              <a:ext cx="6689728" cy="3667471"/>
              <a:chOff x="5321114" y="748302"/>
              <a:chExt cx="6689728" cy="3667471"/>
            </a:xfrm>
          </p:grpSpPr>
          <p:sp>
            <p:nvSpPr>
              <p:cNvPr id="35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900740" y="-557488"/>
              <a:ext cx="6689728" cy="3667471"/>
              <a:chOff x="5321114" y="748302"/>
              <a:chExt cx="6689728" cy="3667471"/>
            </a:xfrm>
          </p:grpSpPr>
          <p:sp>
            <p:nvSpPr>
              <p:cNvPr id="24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-594933" y="4421479"/>
              <a:ext cx="6689728" cy="3667471"/>
              <a:chOff x="5321114" y="748302"/>
              <a:chExt cx="6689728" cy="3667471"/>
            </a:xfrm>
          </p:grpSpPr>
          <p:sp>
            <p:nvSpPr>
              <p:cNvPr id="13" name="椭圆 4"/>
              <p:cNvSpPr/>
              <p:nvPr/>
            </p:nvSpPr>
            <p:spPr>
              <a:xfrm rot="4282667">
                <a:off x="10455133" y="127622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 flipH="1">
                <a:off x="6226326" y="4034844"/>
                <a:ext cx="45719" cy="45719"/>
              </a:xfrm>
              <a:prstGeom prst="ellipse">
                <a:avLst/>
              </a:pr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4"/>
              <p:cNvSpPr/>
              <p:nvPr/>
            </p:nvSpPr>
            <p:spPr>
              <a:xfrm rot="4282667">
                <a:off x="7337099" y="168817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4"/>
              <p:cNvSpPr/>
              <p:nvPr/>
            </p:nvSpPr>
            <p:spPr>
              <a:xfrm rot="4282667">
                <a:off x="7793666" y="1312791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4"/>
              <p:cNvSpPr/>
              <p:nvPr/>
            </p:nvSpPr>
            <p:spPr>
              <a:xfrm rot="4282667">
                <a:off x="5323719" y="264540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4"/>
              <p:cNvSpPr/>
              <p:nvPr/>
            </p:nvSpPr>
            <p:spPr>
              <a:xfrm rot="4282667">
                <a:off x="6202424" y="3270505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4"/>
              <p:cNvSpPr/>
              <p:nvPr/>
            </p:nvSpPr>
            <p:spPr>
              <a:xfrm rot="4282667">
                <a:off x="9655271" y="745697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4"/>
              <p:cNvSpPr/>
              <p:nvPr/>
            </p:nvSpPr>
            <p:spPr>
              <a:xfrm rot="4282667">
                <a:off x="10907011" y="177154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4"/>
              <p:cNvSpPr/>
              <p:nvPr/>
            </p:nvSpPr>
            <p:spPr>
              <a:xfrm rot="4282667">
                <a:off x="11962518" y="3654562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4"/>
              <p:cNvSpPr/>
              <p:nvPr/>
            </p:nvSpPr>
            <p:spPr>
              <a:xfrm rot="4282667">
                <a:off x="11537059" y="3383396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4"/>
              <p:cNvSpPr/>
              <p:nvPr/>
            </p:nvSpPr>
            <p:spPr>
              <a:xfrm rot="4282667">
                <a:off x="11445424" y="4367449"/>
                <a:ext cx="45719" cy="50929"/>
              </a:xfrm>
              <a:custGeom>
                <a:avLst/>
                <a:gdLst>
                  <a:gd name="connsiteX0" fmla="*/ 0 w 779755"/>
                  <a:gd name="connsiteY0" fmla="*/ 389878 h 779755"/>
                  <a:gd name="connsiteX1" fmla="*/ 389878 w 779755"/>
                  <a:gd name="connsiteY1" fmla="*/ 0 h 779755"/>
                  <a:gd name="connsiteX2" fmla="*/ 779756 w 779755"/>
                  <a:gd name="connsiteY2" fmla="*/ 389878 h 779755"/>
                  <a:gd name="connsiteX3" fmla="*/ 389878 w 779755"/>
                  <a:gd name="connsiteY3" fmla="*/ 779756 h 779755"/>
                  <a:gd name="connsiteX4" fmla="*/ 0 w 779755"/>
                  <a:gd name="connsiteY4" fmla="*/ 389878 h 779755"/>
                  <a:gd name="connsiteX0" fmla="*/ 41 w 779797"/>
                  <a:gd name="connsiteY0" fmla="*/ 478778 h 868656"/>
                  <a:gd name="connsiteX1" fmla="*/ 408969 w 779797"/>
                  <a:gd name="connsiteY1" fmla="*/ 0 h 868656"/>
                  <a:gd name="connsiteX2" fmla="*/ 779797 w 779797"/>
                  <a:gd name="connsiteY2" fmla="*/ 478778 h 868656"/>
                  <a:gd name="connsiteX3" fmla="*/ 389919 w 779797"/>
                  <a:gd name="connsiteY3" fmla="*/ 868656 h 868656"/>
                  <a:gd name="connsiteX4" fmla="*/ 41 w 779797"/>
                  <a:gd name="connsiteY4" fmla="*/ 478778 h 868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9797" h="868656">
                    <a:moveTo>
                      <a:pt x="41" y="478778"/>
                    </a:moveTo>
                    <a:cubicBezTo>
                      <a:pt x="3216" y="334002"/>
                      <a:pt x="193645" y="0"/>
                      <a:pt x="408969" y="0"/>
                    </a:cubicBezTo>
                    <a:cubicBezTo>
                      <a:pt x="624293" y="0"/>
                      <a:pt x="779797" y="263454"/>
                      <a:pt x="779797" y="478778"/>
                    </a:cubicBezTo>
                    <a:cubicBezTo>
                      <a:pt x="779797" y="694102"/>
                      <a:pt x="605243" y="868656"/>
                      <a:pt x="389919" y="868656"/>
                    </a:cubicBezTo>
                    <a:cubicBezTo>
                      <a:pt x="174595" y="868656"/>
                      <a:pt x="-3134" y="623554"/>
                      <a:pt x="41" y="478778"/>
                    </a:cubicBezTo>
                    <a:close/>
                  </a:path>
                </a:pathLst>
              </a:custGeom>
              <a:solidFill>
                <a:srgbClr val="73A9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626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93185" y="4652565"/>
            <a:ext cx="7363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Corbel" panose="020B0503020204020204" pitchFamily="34" charset="0"/>
              </a:rPr>
              <a:t>The Impact of Combinations of Anticancer Drugs </a:t>
            </a:r>
            <a:endParaRPr lang="zh-CN" altLang="en-US" sz="28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37005" y="5302786"/>
            <a:ext cx="2275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WANG Chuning</a:t>
            </a:r>
            <a:endParaRPr lang="zh-CN" altLang="en-US" sz="24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832194" y="5239285"/>
            <a:ext cx="4527612" cy="0"/>
          </a:xfrm>
          <a:prstGeom prst="line">
            <a:avLst/>
          </a:prstGeom>
          <a:ln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2461318" y="1072529"/>
            <a:ext cx="6744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Case Study in </a:t>
            </a:r>
          </a:p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Statistical Learning </a:t>
            </a:r>
          </a:p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with </a:t>
            </a:r>
          </a:p>
          <a:p>
            <a:pPr algn="ctr"/>
            <a:r>
              <a:rPr lang="en-US" altLang="zh-CN" sz="5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230623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901116" y="2354551"/>
            <a:ext cx="43770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Experimental Design</a:t>
            </a:r>
            <a:endParaRPr lang="zh-CN" altLang="en-US" sz="6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432301" y="2269049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432299" y="4467117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762614" y="1676400"/>
            <a:ext cx="1404151" cy="520700"/>
            <a:chOff x="283866" y="1128037"/>
            <a:chExt cx="2882900" cy="1069063"/>
          </a:xfrm>
        </p:grpSpPr>
        <p:sp>
          <p:nvSpPr>
            <p:cNvPr id="20" name="矩形 19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665866" y="1516518"/>
            <a:ext cx="2882900" cy="1069063"/>
            <a:chOff x="283866" y="1128037"/>
            <a:chExt cx="2882900" cy="1069063"/>
          </a:xfrm>
        </p:grpSpPr>
        <p:sp>
          <p:nvSpPr>
            <p:cNvPr id="23" name="矩形 22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189695" y="5719994"/>
            <a:ext cx="2882900" cy="1069063"/>
            <a:chOff x="283866" y="1128037"/>
            <a:chExt cx="2882900" cy="1069063"/>
          </a:xfrm>
        </p:grpSpPr>
        <p:sp>
          <p:nvSpPr>
            <p:cNvPr id="26" name="矩形 25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89650" y="170455"/>
            <a:ext cx="2882900" cy="1069063"/>
            <a:chOff x="283866" y="1128037"/>
            <a:chExt cx="2882900" cy="1069063"/>
          </a:xfrm>
        </p:grpSpPr>
        <p:sp>
          <p:nvSpPr>
            <p:cNvPr id="29" name="矩形 28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381775" y="1389775"/>
            <a:ext cx="737049" cy="273319"/>
            <a:chOff x="283866" y="1128037"/>
            <a:chExt cx="2882900" cy="1069063"/>
          </a:xfrm>
        </p:grpSpPr>
        <p:sp>
          <p:nvSpPr>
            <p:cNvPr id="32" name="矩形 31"/>
            <p:cNvSpPr/>
            <p:nvPr/>
          </p:nvSpPr>
          <p:spPr>
            <a:xfrm rot="19634015">
              <a:off x="283866" y="1128037"/>
              <a:ext cx="2882900" cy="289159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738791" y="4026046"/>
            <a:ext cx="737049" cy="273319"/>
            <a:chOff x="283866" y="1128037"/>
            <a:chExt cx="2882900" cy="1069063"/>
          </a:xfrm>
        </p:grpSpPr>
        <p:sp>
          <p:nvSpPr>
            <p:cNvPr id="35" name="矩形 34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208961" y="5416696"/>
            <a:ext cx="737049" cy="273319"/>
            <a:chOff x="283866" y="1128037"/>
            <a:chExt cx="2882900" cy="1069063"/>
          </a:xfrm>
        </p:grpSpPr>
        <p:sp>
          <p:nvSpPr>
            <p:cNvPr id="38" name="矩形 37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93090" y="3690154"/>
            <a:ext cx="2882900" cy="1069063"/>
            <a:chOff x="283866" y="1128037"/>
            <a:chExt cx="2882900" cy="1069063"/>
          </a:xfrm>
        </p:grpSpPr>
        <p:sp>
          <p:nvSpPr>
            <p:cNvPr id="41" name="矩形 40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88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114"/>
          <p:cNvSpPr txBox="1"/>
          <p:nvPr/>
        </p:nvSpPr>
        <p:spPr>
          <a:xfrm>
            <a:off x="3016669" y="283869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Training Data Selected (1)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" t="-130"/>
          <a:stretch/>
        </p:blipFill>
        <p:spPr>
          <a:xfrm>
            <a:off x="0" y="1267314"/>
            <a:ext cx="12191999" cy="559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2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文本框 114"/>
          <p:cNvSpPr txBox="1"/>
          <p:nvPr/>
        </p:nvSpPr>
        <p:spPr>
          <a:xfrm>
            <a:off x="3016669" y="283869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Training Data Selected (2)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1029"/>
            <a:ext cx="12192000" cy="549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4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14259" y="4145122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321547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Something here</a:t>
            </a:r>
            <a:endParaRPr lang="zh-CN" altLang="en-US" sz="1600" b="1" dirty="0">
              <a:solidFill>
                <a:srgbClr val="321547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98131" y="4145122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321547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Something here</a:t>
            </a:r>
            <a:endParaRPr lang="zh-CN" altLang="en-US" sz="1600" b="1" dirty="0">
              <a:solidFill>
                <a:srgbClr val="321547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82003" y="4145122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321547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Something here</a:t>
            </a:r>
            <a:endParaRPr lang="zh-CN" altLang="en-US" sz="1600" b="1" dirty="0">
              <a:solidFill>
                <a:srgbClr val="321547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2762286" y="77517"/>
            <a:ext cx="7433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Training Data Selected Randomly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4" y="785403"/>
            <a:ext cx="12196333" cy="607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901116" y="2693516"/>
            <a:ext cx="43770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Result</a:t>
            </a:r>
            <a:endParaRPr lang="zh-CN" altLang="en-US" sz="6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432299" y="2728129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432298" y="3849592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762614" y="1676400"/>
            <a:ext cx="1404151" cy="520700"/>
            <a:chOff x="283866" y="1128037"/>
            <a:chExt cx="2882900" cy="1069063"/>
          </a:xfrm>
        </p:grpSpPr>
        <p:sp>
          <p:nvSpPr>
            <p:cNvPr id="20" name="矩形 19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665866" y="1516518"/>
            <a:ext cx="2882900" cy="1069063"/>
            <a:chOff x="283866" y="1128037"/>
            <a:chExt cx="2882900" cy="1069063"/>
          </a:xfrm>
        </p:grpSpPr>
        <p:sp>
          <p:nvSpPr>
            <p:cNvPr id="23" name="矩形 22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189695" y="5719994"/>
            <a:ext cx="2882900" cy="1069063"/>
            <a:chOff x="283866" y="1128037"/>
            <a:chExt cx="2882900" cy="1069063"/>
          </a:xfrm>
        </p:grpSpPr>
        <p:sp>
          <p:nvSpPr>
            <p:cNvPr id="26" name="矩形 25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89650" y="170455"/>
            <a:ext cx="2882900" cy="1069063"/>
            <a:chOff x="283866" y="1128037"/>
            <a:chExt cx="2882900" cy="1069063"/>
          </a:xfrm>
        </p:grpSpPr>
        <p:sp>
          <p:nvSpPr>
            <p:cNvPr id="29" name="矩形 28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381775" y="1389775"/>
            <a:ext cx="737049" cy="273319"/>
            <a:chOff x="283866" y="1128037"/>
            <a:chExt cx="2882900" cy="1069063"/>
          </a:xfrm>
        </p:grpSpPr>
        <p:sp>
          <p:nvSpPr>
            <p:cNvPr id="32" name="矩形 31"/>
            <p:cNvSpPr/>
            <p:nvPr/>
          </p:nvSpPr>
          <p:spPr>
            <a:xfrm rot="19634015">
              <a:off x="283866" y="1128037"/>
              <a:ext cx="2882900" cy="289159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738791" y="4026046"/>
            <a:ext cx="737049" cy="273319"/>
            <a:chOff x="283866" y="1128037"/>
            <a:chExt cx="2882900" cy="1069063"/>
          </a:xfrm>
        </p:grpSpPr>
        <p:sp>
          <p:nvSpPr>
            <p:cNvPr id="35" name="矩形 34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208961" y="5416696"/>
            <a:ext cx="737049" cy="273319"/>
            <a:chOff x="283866" y="1128037"/>
            <a:chExt cx="2882900" cy="1069063"/>
          </a:xfrm>
        </p:grpSpPr>
        <p:sp>
          <p:nvSpPr>
            <p:cNvPr id="38" name="矩形 37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93090" y="3690154"/>
            <a:ext cx="2882900" cy="1069063"/>
            <a:chOff x="283866" y="1128037"/>
            <a:chExt cx="2882900" cy="1069063"/>
          </a:xfrm>
        </p:grpSpPr>
        <p:sp>
          <p:nvSpPr>
            <p:cNvPr id="41" name="矩形 40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259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016669" y="781125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Ridge Regression (1)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37540" y="5299653"/>
            <a:ext cx="5731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VD,VM, VE, V, VV </a:t>
            </a:r>
            <a:endParaRPr lang="zh-CN" altLang="en-US" sz="40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55" y="2585920"/>
            <a:ext cx="10488489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3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016669" y="781125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Ridge Regression (2)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37540" y="5299653"/>
            <a:ext cx="5731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VM, VD, V, VE, VV </a:t>
            </a:r>
            <a:endParaRPr lang="zh-CN" altLang="en-US" sz="40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45" y="2536962"/>
            <a:ext cx="9735909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1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0" b="66665"/>
          <a:stretch/>
        </p:blipFill>
        <p:spPr>
          <a:xfrm>
            <a:off x="1526668" y="2935581"/>
            <a:ext cx="9153167" cy="170142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452" y="617493"/>
            <a:ext cx="10515600" cy="1325563"/>
          </a:xfrm>
        </p:spPr>
        <p:txBody>
          <a:bodyPr/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Original Result of Ridge Regression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52436" y="2052926"/>
            <a:ext cx="6711654" cy="4195481"/>
          </a:xfrm>
        </p:spPr>
        <p:txBody>
          <a:bodyPr>
            <a:normAutofit/>
          </a:bodyPr>
          <a:lstStyle/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2400" dirty="0">
              <a:latin typeface="Corbel" panose="020B0503020204020204" pitchFamily="34" charset="0"/>
            </a:endParaRPr>
          </a:p>
        </p:txBody>
      </p:sp>
      <p:sp>
        <p:nvSpPr>
          <p:cNvPr id="7" name="文本框 21"/>
          <p:cNvSpPr txBox="1"/>
          <p:nvPr/>
        </p:nvSpPr>
        <p:spPr>
          <a:xfrm>
            <a:off x="3237540" y="5299653"/>
            <a:ext cx="5731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V, VM, E, VV, EE</a:t>
            </a:r>
            <a:endParaRPr lang="zh-CN" altLang="en-US" sz="40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23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42465" y="822376"/>
            <a:ext cx="11921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Ridge Regression with Random Chosen Training Data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37540" y="5299653"/>
            <a:ext cx="5731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VM, VD, V, VE, VV </a:t>
            </a:r>
            <a:endParaRPr lang="zh-CN" altLang="en-US" sz="40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03" y="2668916"/>
            <a:ext cx="10383699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66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11"/>
          <p:cNvSpPr txBox="1"/>
          <p:nvPr/>
        </p:nvSpPr>
        <p:spPr>
          <a:xfrm>
            <a:off x="3016669" y="781125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Lasso Regression (1)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7" y="2390534"/>
            <a:ext cx="10393225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72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11"/>
          <p:cNvSpPr txBox="1"/>
          <p:nvPr/>
        </p:nvSpPr>
        <p:spPr>
          <a:xfrm>
            <a:off x="3016669" y="781125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Lasso Regression (2)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3" y="2446715"/>
            <a:ext cx="1055517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2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05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452" y="156855"/>
            <a:ext cx="10515600" cy="1325563"/>
          </a:xfrm>
        </p:spPr>
        <p:txBody>
          <a:bodyPr/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Original Result of Lasso Regression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8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252" y="1644459"/>
            <a:ext cx="9144000" cy="5213541"/>
          </a:xfrm>
        </p:spPr>
      </p:pic>
    </p:spTree>
    <p:extLst>
      <p:ext uri="{BB962C8B-B14F-4D97-AF65-F5344CB8AC3E}">
        <p14:creationId xmlns:p14="http://schemas.microsoft.com/office/powerpoint/2010/main" val="1557697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015434" y="486947"/>
            <a:ext cx="7055380" cy="1400530"/>
          </a:xfrm>
        </p:spPr>
        <p:txBody>
          <a:bodyPr/>
          <a:lstStyle/>
          <a:p>
            <a:r>
              <a:rPr lang="en-US" altLang="zh-CN" sz="4000" dirty="0"/>
              <a:t>Lasso Regression</a:t>
            </a:r>
            <a:endParaRPr lang="en-US" sz="4000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271" y="0"/>
            <a:ext cx="10444397" cy="6339084"/>
          </a:xfrm>
          <a:prstGeom prst="rect">
            <a:avLst/>
          </a:prstGeom>
        </p:spPr>
      </p:pic>
      <p:cxnSp>
        <p:nvCxnSpPr>
          <p:cNvPr id="9" name="直線接點 8"/>
          <p:cNvCxnSpPr/>
          <p:nvPr/>
        </p:nvCxnSpPr>
        <p:spPr>
          <a:xfrm>
            <a:off x="7086928" y="486947"/>
            <a:ext cx="13854" cy="5084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>
            <a:off x="1705787" y="695283"/>
            <a:ext cx="6724" cy="49485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6033469" y="6398634"/>
            <a:ext cx="2907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giving </a:t>
            </a:r>
            <a:r>
              <a:rPr lang="en-US" altLang="zh-CN" sz="2000" dirty="0">
                <a:solidFill>
                  <a:schemeClr val="bg1"/>
                </a:solidFill>
                <a:latin typeface="Corbel" panose="020B0503020204020204" pitchFamily="34" charset="0"/>
              </a:rPr>
              <a:t>sparse model</a:t>
            </a:r>
            <a:endParaRPr lang="zh-CN" altLang="en-US" sz="20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554360" y="6398634"/>
            <a:ext cx="2104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λ</a:t>
            </a:r>
            <a:r>
              <a:rPr lang="en-US" altLang="zh-CN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Corbel" panose="020B0503020204020204" pitchFamily="34" charset="0"/>
              </a:rPr>
              <a:t>minimizing MSE</a:t>
            </a:r>
            <a:endParaRPr lang="zh-CN" altLang="en-US" sz="2000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76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文本框 11"/>
          <p:cNvSpPr txBox="1"/>
          <p:nvPr/>
        </p:nvSpPr>
        <p:spPr>
          <a:xfrm>
            <a:off x="0" y="78112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Lasso Regression with Random Chosen Training Data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23" y="2199209"/>
            <a:ext cx="9678751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48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1" y="0"/>
            <a:ext cx="8930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1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990026" y="141733"/>
            <a:ext cx="10649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Multi-Layer Perceptron neural network (MLP) (1)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62" y="1142706"/>
            <a:ext cx="7620392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47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990026" y="141733"/>
            <a:ext cx="10649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Multi-Layer Perceptron neural network (MLP) (2)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05" y="1142706"/>
            <a:ext cx="7620392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28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990026" y="141733"/>
            <a:ext cx="10649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Original Result of MLP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6440" y="932062"/>
            <a:ext cx="7916835" cy="592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78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522514" y="141733"/>
            <a:ext cx="11337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MLP with Random Chosen Training Data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815" y="1142706"/>
            <a:ext cx="7442582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157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990025" y="382365"/>
            <a:ext cx="4090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Random Forest (1)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339" y="1801672"/>
            <a:ext cx="3772426" cy="4010585"/>
          </a:xfrm>
          <a:prstGeom prst="rect">
            <a:avLst/>
          </a:prstGeom>
        </p:spPr>
      </p:pic>
      <p:sp>
        <p:nvSpPr>
          <p:cNvPr id="6" name="文本框 11"/>
          <p:cNvSpPr txBox="1"/>
          <p:nvPr/>
        </p:nvSpPr>
        <p:spPr>
          <a:xfrm>
            <a:off x="7143481" y="321634"/>
            <a:ext cx="4090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Random Forest (2)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952" y="1825489"/>
            <a:ext cx="3896269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72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856" y="1637326"/>
            <a:ext cx="9144000" cy="4584191"/>
          </a:xfrm>
        </p:spPr>
      </p:pic>
      <p:sp>
        <p:nvSpPr>
          <p:cNvPr id="5" name="文本框 11"/>
          <p:cNvSpPr txBox="1"/>
          <p:nvPr/>
        </p:nvSpPr>
        <p:spPr>
          <a:xfrm>
            <a:off x="990024" y="382365"/>
            <a:ext cx="10649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Original Result of Random Forest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4" name="直線接點 3"/>
          <p:cNvCxnSpPr/>
          <p:nvPr/>
        </p:nvCxnSpPr>
        <p:spPr>
          <a:xfrm flipV="1">
            <a:off x="2521892" y="2456942"/>
            <a:ext cx="6504709" cy="13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V="1">
            <a:off x="2547156" y="3738080"/>
            <a:ext cx="6420971" cy="13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 flipV="1">
            <a:off x="2521892" y="3180027"/>
            <a:ext cx="6432788" cy="26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875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1"/>
          <p:cNvSpPr txBox="1"/>
          <p:nvPr/>
        </p:nvSpPr>
        <p:spPr>
          <a:xfrm>
            <a:off x="937314" y="382365"/>
            <a:ext cx="11254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Random Forest with Random Chosen Training Data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75" y="1912924"/>
            <a:ext cx="3496163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71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066979" y="1056132"/>
            <a:ext cx="399357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Mean Squared</a:t>
            </a:r>
          </a:p>
          <a:p>
            <a:pPr algn="ctr"/>
            <a:r>
              <a:rPr lang="en-US" altLang="zh-CN" sz="88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Error</a:t>
            </a:r>
            <a:endParaRPr lang="zh-CN" altLang="en-US" sz="88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516734" y="1093468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406417" y="5448419"/>
            <a:ext cx="3314699" cy="0"/>
          </a:xfrm>
          <a:prstGeom prst="line">
            <a:avLst/>
          </a:prstGeom>
          <a:ln w="76200">
            <a:solidFill>
              <a:srgbClr val="00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762614" y="1676400"/>
            <a:ext cx="1404151" cy="520700"/>
            <a:chOff x="283866" y="1128037"/>
            <a:chExt cx="2882900" cy="1069063"/>
          </a:xfrm>
        </p:grpSpPr>
        <p:sp>
          <p:nvSpPr>
            <p:cNvPr id="20" name="矩形 19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834019" y="1651477"/>
            <a:ext cx="2882900" cy="1069063"/>
            <a:chOff x="283866" y="1128037"/>
            <a:chExt cx="2882900" cy="1069063"/>
          </a:xfrm>
        </p:grpSpPr>
        <p:sp>
          <p:nvSpPr>
            <p:cNvPr id="23" name="矩形 22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867399" y="4919127"/>
            <a:ext cx="2882900" cy="1069063"/>
            <a:chOff x="283866" y="1128037"/>
            <a:chExt cx="2882900" cy="1069063"/>
          </a:xfrm>
        </p:grpSpPr>
        <p:sp>
          <p:nvSpPr>
            <p:cNvPr id="26" name="矩形 25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89650" y="170455"/>
            <a:ext cx="2882900" cy="1069063"/>
            <a:chOff x="283866" y="1128037"/>
            <a:chExt cx="2882900" cy="1069063"/>
          </a:xfrm>
        </p:grpSpPr>
        <p:sp>
          <p:nvSpPr>
            <p:cNvPr id="29" name="矩形 28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381775" y="1389775"/>
            <a:ext cx="737049" cy="273319"/>
            <a:chOff x="283866" y="1128037"/>
            <a:chExt cx="2882900" cy="1069063"/>
          </a:xfrm>
        </p:grpSpPr>
        <p:sp>
          <p:nvSpPr>
            <p:cNvPr id="32" name="矩形 31"/>
            <p:cNvSpPr/>
            <p:nvPr/>
          </p:nvSpPr>
          <p:spPr>
            <a:xfrm rot="19634015">
              <a:off x="283866" y="1128037"/>
              <a:ext cx="2882900" cy="289159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9738791" y="4026046"/>
            <a:ext cx="737049" cy="273319"/>
            <a:chOff x="283866" y="1128037"/>
            <a:chExt cx="2882900" cy="1069063"/>
          </a:xfrm>
        </p:grpSpPr>
        <p:sp>
          <p:nvSpPr>
            <p:cNvPr id="35" name="矩形 34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208961" y="5416696"/>
            <a:ext cx="737049" cy="273319"/>
            <a:chOff x="283866" y="1128037"/>
            <a:chExt cx="2882900" cy="1069063"/>
          </a:xfrm>
        </p:grpSpPr>
        <p:sp>
          <p:nvSpPr>
            <p:cNvPr id="38" name="矩形 37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893090" y="3690154"/>
            <a:ext cx="2882900" cy="1069063"/>
            <a:chOff x="283866" y="1128037"/>
            <a:chExt cx="2882900" cy="1069063"/>
          </a:xfrm>
        </p:grpSpPr>
        <p:sp>
          <p:nvSpPr>
            <p:cNvPr id="41" name="矩形 40"/>
            <p:cNvSpPr/>
            <p:nvPr/>
          </p:nvSpPr>
          <p:spPr>
            <a:xfrm rot="19634015">
              <a:off x="283866" y="1128037"/>
              <a:ext cx="2882900" cy="289160"/>
            </a:xfrm>
            <a:prstGeom prst="rect">
              <a:avLst/>
            </a:prstGeom>
            <a:gradFill flip="none" rotWithShape="1">
              <a:gsLst>
                <a:gs pos="17000">
                  <a:schemeClr val="bg1">
                    <a:alpha val="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368300" y="1905000"/>
              <a:ext cx="292100" cy="2921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6476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72321" y="789090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MSE (1)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493" y="2565081"/>
            <a:ext cx="2286319" cy="2486372"/>
          </a:xfrm>
          <a:prstGeom prst="rect">
            <a:avLst/>
          </a:prstGeom>
        </p:spPr>
      </p:pic>
      <p:sp>
        <p:nvSpPr>
          <p:cNvPr id="9" name="文本框 6"/>
          <p:cNvSpPr txBox="1"/>
          <p:nvPr/>
        </p:nvSpPr>
        <p:spPr>
          <a:xfrm>
            <a:off x="5594862" y="789090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MSE (2)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718" y="2565081"/>
            <a:ext cx="215295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95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6"/>
          <p:cNvSpPr txBox="1"/>
          <p:nvPr/>
        </p:nvSpPr>
        <p:spPr>
          <a:xfrm>
            <a:off x="775855" y="1053631"/>
            <a:ext cx="4746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Original MSE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9" name="內容版面配置區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2" r="65494" b="40639"/>
          <a:stretch/>
        </p:blipFill>
        <p:spPr>
          <a:xfrm>
            <a:off x="2157820" y="2953007"/>
            <a:ext cx="1982213" cy="2434284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543" y="2953007"/>
            <a:ext cx="2269870" cy="2449568"/>
          </a:xfrm>
          <a:prstGeom prst="rect">
            <a:avLst/>
          </a:prstGeom>
        </p:spPr>
      </p:pic>
      <p:sp>
        <p:nvSpPr>
          <p:cNvPr id="20" name="文本框 6"/>
          <p:cNvSpPr txBox="1"/>
          <p:nvPr/>
        </p:nvSpPr>
        <p:spPr>
          <a:xfrm>
            <a:off x="5507147" y="1053631"/>
            <a:ext cx="6158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CC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MSE (Random)</a:t>
            </a:r>
            <a:endParaRPr lang="zh-CN" altLang="en-US" sz="4000" b="1" dirty="0">
              <a:solidFill>
                <a:srgbClr val="00CC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1420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200</Words>
  <Application>Microsoft Office PowerPoint</Application>
  <PresentationFormat>寬螢幕</PresentationFormat>
  <Paragraphs>46</Paragraphs>
  <Slides>28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7" baseType="lpstr">
      <vt:lpstr>新細明體</vt:lpstr>
      <vt:lpstr>等线</vt:lpstr>
      <vt:lpstr>等线 Light</vt:lpstr>
      <vt:lpstr>华文细黑</vt:lpstr>
      <vt:lpstr>Arial</vt:lpstr>
      <vt:lpstr>Calibri</vt:lpstr>
      <vt:lpstr>Calibri Light</vt:lpstr>
      <vt:lpstr>Corbel</vt:lpstr>
      <vt:lpstr>Office 主题​​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Original Result of Ridge Regression</vt:lpstr>
      <vt:lpstr>PowerPoint 簡報</vt:lpstr>
      <vt:lpstr>PowerPoint 簡報</vt:lpstr>
      <vt:lpstr>PowerPoint 簡報</vt:lpstr>
      <vt:lpstr>PowerPoint 簡報</vt:lpstr>
      <vt:lpstr>PowerPoint 簡報</vt:lpstr>
      <vt:lpstr>Original Result of Lasso Regression</vt:lpstr>
      <vt:lpstr>Lasso Regression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Chuning Wang</cp:lastModifiedBy>
  <cp:revision>104</cp:revision>
  <dcterms:created xsi:type="dcterms:W3CDTF">2016-05-29T05:24:16Z</dcterms:created>
  <dcterms:modified xsi:type="dcterms:W3CDTF">2016-12-24T06:38:12Z</dcterms:modified>
</cp:coreProperties>
</file>