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0" r:id="rId2"/>
    <p:sldId id="298" r:id="rId3"/>
    <p:sldId id="328" r:id="rId4"/>
    <p:sldId id="327" r:id="rId5"/>
    <p:sldId id="313" r:id="rId6"/>
    <p:sldId id="301" r:id="rId7"/>
    <p:sldId id="334" r:id="rId8"/>
    <p:sldId id="337" r:id="rId9"/>
    <p:sldId id="338" r:id="rId10"/>
    <p:sldId id="339" r:id="rId11"/>
    <p:sldId id="336" r:id="rId12"/>
    <p:sldId id="332" r:id="rId13"/>
    <p:sldId id="333" r:id="rId14"/>
    <p:sldId id="335" r:id="rId15"/>
    <p:sldId id="315" r:id="rId16"/>
    <p:sldId id="317" r:id="rId17"/>
    <p:sldId id="324" r:id="rId18"/>
    <p:sldId id="325" r:id="rId19"/>
    <p:sldId id="331" r:id="rId20"/>
    <p:sldId id="319" r:id="rId21"/>
    <p:sldId id="322" r:id="rId22"/>
    <p:sldId id="320" r:id="rId23"/>
    <p:sldId id="321" r:id="rId24"/>
    <p:sldId id="326" r:id="rId25"/>
    <p:sldId id="303" r:id="rId26"/>
    <p:sldId id="330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FF"/>
    <a:srgbClr val="333B6C"/>
    <a:srgbClr val="321547"/>
    <a:srgbClr val="A365D1"/>
    <a:srgbClr val="7E36B4"/>
    <a:srgbClr val="6E2F9D"/>
    <a:srgbClr val="58267E"/>
    <a:srgbClr val="401B5B"/>
    <a:srgbClr val="421C5E"/>
    <a:srgbClr val="2729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39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41323-F648-4450-8A02-1E8CC3147548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23F21-C51D-42CA-97B7-7E85BEA8F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742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604795-E742-4CCE-ADCB-B36844E1130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10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0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3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28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10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69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152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483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47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020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748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528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21547"/>
            </a:gs>
            <a:gs pos="100000">
              <a:srgbClr val="2729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3F513-0650-49B6-A551-A0B1B3B977E5}" type="datetimeFigureOut">
              <a:rPr lang="zh-CN" altLang="en-US" smtClean="0"/>
              <a:t>2016/12/30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594933" y="-557488"/>
            <a:ext cx="12605775" cy="8646438"/>
            <a:chOff x="-594933" y="-557488"/>
            <a:chExt cx="12605775" cy="8646438"/>
          </a:xfrm>
        </p:grpSpPr>
        <p:grpSp>
          <p:nvGrpSpPr>
            <p:cNvPr id="8" name="组合 7"/>
            <p:cNvGrpSpPr/>
            <p:nvPr/>
          </p:nvGrpSpPr>
          <p:grpSpPr>
            <a:xfrm>
              <a:off x="5321114" y="748302"/>
              <a:ext cx="6689728" cy="3667471"/>
              <a:chOff x="5321114" y="748302"/>
              <a:chExt cx="6689728" cy="3667471"/>
            </a:xfrm>
          </p:grpSpPr>
          <p:sp>
            <p:nvSpPr>
              <p:cNvPr id="57" name="椭圆 4"/>
              <p:cNvSpPr/>
              <p:nvPr/>
            </p:nvSpPr>
            <p:spPr>
              <a:xfrm rot="4282667">
                <a:off x="10455133" y="127622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椭圆 57"/>
              <p:cNvSpPr/>
              <p:nvPr/>
            </p:nvSpPr>
            <p:spPr>
              <a:xfrm flipH="1">
                <a:off x="6226326" y="4034844"/>
                <a:ext cx="45719" cy="45719"/>
              </a:xfrm>
              <a:prstGeom prst="ellipse">
                <a:avLst/>
              </a:pr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椭圆 4"/>
              <p:cNvSpPr/>
              <p:nvPr/>
            </p:nvSpPr>
            <p:spPr>
              <a:xfrm rot="4282667">
                <a:off x="7337099" y="168817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4"/>
              <p:cNvSpPr/>
              <p:nvPr/>
            </p:nvSpPr>
            <p:spPr>
              <a:xfrm rot="4282667">
                <a:off x="7793666" y="1312791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4"/>
              <p:cNvSpPr/>
              <p:nvPr/>
            </p:nvSpPr>
            <p:spPr>
              <a:xfrm rot="4282667">
                <a:off x="5323719" y="264540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4"/>
              <p:cNvSpPr/>
              <p:nvPr/>
            </p:nvSpPr>
            <p:spPr>
              <a:xfrm rot="4282667">
                <a:off x="6202424" y="327050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4"/>
              <p:cNvSpPr/>
              <p:nvPr/>
            </p:nvSpPr>
            <p:spPr>
              <a:xfrm rot="4282667">
                <a:off x="9655271" y="74569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4"/>
              <p:cNvSpPr/>
              <p:nvPr/>
            </p:nvSpPr>
            <p:spPr>
              <a:xfrm rot="4282667">
                <a:off x="10907011" y="177154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椭圆 4"/>
              <p:cNvSpPr/>
              <p:nvPr/>
            </p:nvSpPr>
            <p:spPr>
              <a:xfrm rot="4282667">
                <a:off x="11962518" y="365456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椭圆 4"/>
              <p:cNvSpPr/>
              <p:nvPr/>
            </p:nvSpPr>
            <p:spPr>
              <a:xfrm rot="4282667">
                <a:off x="11537059" y="3383396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椭圆 4"/>
              <p:cNvSpPr/>
              <p:nvPr/>
            </p:nvSpPr>
            <p:spPr>
              <a:xfrm rot="4282667">
                <a:off x="11445424" y="4367449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045228" y="1889023"/>
              <a:ext cx="6689728" cy="3667471"/>
              <a:chOff x="5321114" y="748302"/>
              <a:chExt cx="6689728" cy="3667471"/>
            </a:xfrm>
          </p:grpSpPr>
          <p:sp>
            <p:nvSpPr>
              <p:cNvPr id="46" name="椭圆 4"/>
              <p:cNvSpPr/>
              <p:nvPr/>
            </p:nvSpPr>
            <p:spPr>
              <a:xfrm rot="4282667">
                <a:off x="10455133" y="127622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 flipH="1">
                <a:off x="6226326" y="4034844"/>
                <a:ext cx="45719" cy="45719"/>
              </a:xfrm>
              <a:prstGeom prst="ellipse">
                <a:avLst/>
              </a:pr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"/>
              <p:cNvSpPr/>
              <p:nvPr/>
            </p:nvSpPr>
            <p:spPr>
              <a:xfrm rot="4282667">
                <a:off x="7337099" y="168817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"/>
              <p:cNvSpPr/>
              <p:nvPr/>
            </p:nvSpPr>
            <p:spPr>
              <a:xfrm rot="4282667">
                <a:off x="7793666" y="1312791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椭圆 4"/>
              <p:cNvSpPr/>
              <p:nvPr/>
            </p:nvSpPr>
            <p:spPr>
              <a:xfrm rot="4282667">
                <a:off x="5323719" y="264540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椭圆 4"/>
              <p:cNvSpPr/>
              <p:nvPr/>
            </p:nvSpPr>
            <p:spPr>
              <a:xfrm rot="4282667">
                <a:off x="6202424" y="327050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4"/>
              <p:cNvSpPr/>
              <p:nvPr/>
            </p:nvSpPr>
            <p:spPr>
              <a:xfrm rot="4282667">
                <a:off x="9655271" y="74569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椭圆 4"/>
              <p:cNvSpPr/>
              <p:nvPr/>
            </p:nvSpPr>
            <p:spPr>
              <a:xfrm rot="4282667">
                <a:off x="10907011" y="177154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4"/>
              <p:cNvSpPr/>
              <p:nvPr/>
            </p:nvSpPr>
            <p:spPr>
              <a:xfrm rot="4282667">
                <a:off x="11962518" y="365456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椭圆 4"/>
              <p:cNvSpPr/>
              <p:nvPr/>
            </p:nvSpPr>
            <p:spPr>
              <a:xfrm rot="4282667">
                <a:off x="11537059" y="3383396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椭圆 4"/>
              <p:cNvSpPr/>
              <p:nvPr/>
            </p:nvSpPr>
            <p:spPr>
              <a:xfrm rot="4282667">
                <a:off x="11445424" y="4367449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-544948" y="-305650"/>
              <a:ext cx="6689728" cy="3667471"/>
              <a:chOff x="5321114" y="748302"/>
              <a:chExt cx="6689728" cy="3667471"/>
            </a:xfrm>
          </p:grpSpPr>
          <p:sp>
            <p:nvSpPr>
              <p:cNvPr id="35" name="椭圆 4"/>
              <p:cNvSpPr/>
              <p:nvPr/>
            </p:nvSpPr>
            <p:spPr>
              <a:xfrm rot="4282667">
                <a:off x="10455133" y="127622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 flipH="1">
                <a:off x="6226326" y="4034844"/>
                <a:ext cx="45719" cy="45719"/>
              </a:xfrm>
              <a:prstGeom prst="ellipse">
                <a:avLst/>
              </a:pr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4"/>
              <p:cNvSpPr/>
              <p:nvPr/>
            </p:nvSpPr>
            <p:spPr>
              <a:xfrm rot="4282667">
                <a:off x="7337099" y="168817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椭圆 4"/>
              <p:cNvSpPr/>
              <p:nvPr/>
            </p:nvSpPr>
            <p:spPr>
              <a:xfrm rot="4282667">
                <a:off x="7793666" y="1312791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椭圆 4"/>
              <p:cNvSpPr/>
              <p:nvPr/>
            </p:nvSpPr>
            <p:spPr>
              <a:xfrm rot="4282667">
                <a:off x="5323719" y="264540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4"/>
              <p:cNvSpPr/>
              <p:nvPr/>
            </p:nvSpPr>
            <p:spPr>
              <a:xfrm rot="4282667">
                <a:off x="6202424" y="327050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"/>
              <p:cNvSpPr/>
              <p:nvPr/>
            </p:nvSpPr>
            <p:spPr>
              <a:xfrm rot="4282667">
                <a:off x="9655271" y="74569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"/>
              <p:cNvSpPr/>
              <p:nvPr/>
            </p:nvSpPr>
            <p:spPr>
              <a:xfrm rot="4282667">
                <a:off x="10907011" y="177154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4"/>
              <p:cNvSpPr/>
              <p:nvPr/>
            </p:nvSpPr>
            <p:spPr>
              <a:xfrm rot="4282667">
                <a:off x="11962518" y="365456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椭圆 4"/>
              <p:cNvSpPr/>
              <p:nvPr/>
            </p:nvSpPr>
            <p:spPr>
              <a:xfrm rot="4282667">
                <a:off x="11537059" y="3383396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椭圆 4"/>
              <p:cNvSpPr/>
              <p:nvPr/>
            </p:nvSpPr>
            <p:spPr>
              <a:xfrm rot="4282667">
                <a:off x="11445424" y="4367449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900740" y="-557488"/>
              <a:ext cx="6689728" cy="3667471"/>
              <a:chOff x="5321114" y="748302"/>
              <a:chExt cx="6689728" cy="3667471"/>
            </a:xfrm>
          </p:grpSpPr>
          <p:sp>
            <p:nvSpPr>
              <p:cNvPr id="24" name="椭圆 4"/>
              <p:cNvSpPr/>
              <p:nvPr/>
            </p:nvSpPr>
            <p:spPr>
              <a:xfrm rot="4282667">
                <a:off x="10455133" y="127622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 flipH="1">
                <a:off x="6226326" y="4034844"/>
                <a:ext cx="45719" cy="45719"/>
              </a:xfrm>
              <a:prstGeom prst="ellipse">
                <a:avLst/>
              </a:pr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4"/>
              <p:cNvSpPr/>
              <p:nvPr/>
            </p:nvSpPr>
            <p:spPr>
              <a:xfrm rot="4282667">
                <a:off x="7337099" y="168817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4"/>
              <p:cNvSpPr/>
              <p:nvPr/>
            </p:nvSpPr>
            <p:spPr>
              <a:xfrm rot="4282667">
                <a:off x="7793666" y="1312791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4"/>
              <p:cNvSpPr/>
              <p:nvPr/>
            </p:nvSpPr>
            <p:spPr>
              <a:xfrm rot="4282667">
                <a:off x="5323719" y="264540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4"/>
              <p:cNvSpPr/>
              <p:nvPr/>
            </p:nvSpPr>
            <p:spPr>
              <a:xfrm rot="4282667">
                <a:off x="6202424" y="327050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4"/>
              <p:cNvSpPr/>
              <p:nvPr/>
            </p:nvSpPr>
            <p:spPr>
              <a:xfrm rot="4282667">
                <a:off x="9655271" y="74569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4"/>
              <p:cNvSpPr/>
              <p:nvPr/>
            </p:nvSpPr>
            <p:spPr>
              <a:xfrm rot="4282667">
                <a:off x="10907011" y="177154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4"/>
              <p:cNvSpPr/>
              <p:nvPr/>
            </p:nvSpPr>
            <p:spPr>
              <a:xfrm rot="4282667">
                <a:off x="11962518" y="365456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4"/>
              <p:cNvSpPr/>
              <p:nvPr/>
            </p:nvSpPr>
            <p:spPr>
              <a:xfrm rot="4282667">
                <a:off x="11537059" y="3383396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4"/>
              <p:cNvSpPr/>
              <p:nvPr/>
            </p:nvSpPr>
            <p:spPr>
              <a:xfrm rot="4282667">
                <a:off x="11445424" y="4367449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-594933" y="4421479"/>
              <a:ext cx="6689728" cy="3667471"/>
              <a:chOff x="5321114" y="748302"/>
              <a:chExt cx="6689728" cy="3667471"/>
            </a:xfrm>
          </p:grpSpPr>
          <p:sp>
            <p:nvSpPr>
              <p:cNvPr id="13" name="椭圆 4"/>
              <p:cNvSpPr/>
              <p:nvPr/>
            </p:nvSpPr>
            <p:spPr>
              <a:xfrm rot="4282667">
                <a:off x="10455133" y="127622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 flipH="1">
                <a:off x="6226326" y="4034844"/>
                <a:ext cx="45719" cy="45719"/>
              </a:xfrm>
              <a:prstGeom prst="ellipse">
                <a:avLst/>
              </a:pr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4"/>
              <p:cNvSpPr/>
              <p:nvPr/>
            </p:nvSpPr>
            <p:spPr>
              <a:xfrm rot="4282667">
                <a:off x="7337099" y="168817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4"/>
              <p:cNvSpPr/>
              <p:nvPr/>
            </p:nvSpPr>
            <p:spPr>
              <a:xfrm rot="4282667">
                <a:off x="7793666" y="1312791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4"/>
              <p:cNvSpPr/>
              <p:nvPr/>
            </p:nvSpPr>
            <p:spPr>
              <a:xfrm rot="4282667">
                <a:off x="5323719" y="264540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4"/>
              <p:cNvSpPr/>
              <p:nvPr/>
            </p:nvSpPr>
            <p:spPr>
              <a:xfrm rot="4282667">
                <a:off x="6202424" y="327050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4"/>
              <p:cNvSpPr/>
              <p:nvPr/>
            </p:nvSpPr>
            <p:spPr>
              <a:xfrm rot="4282667">
                <a:off x="9655271" y="74569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4"/>
              <p:cNvSpPr/>
              <p:nvPr/>
            </p:nvSpPr>
            <p:spPr>
              <a:xfrm rot="4282667">
                <a:off x="10907011" y="177154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4"/>
              <p:cNvSpPr/>
              <p:nvPr/>
            </p:nvSpPr>
            <p:spPr>
              <a:xfrm rot="4282667">
                <a:off x="11962518" y="365456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4"/>
              <p:cNvSpPr/>
              <p:nvPr/>
            </p:nvSpPr>
            <p:spPr>
              <a:xfrm rot="4282667">
                <a:off x="11537059" y="3383396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4"/>
              <p:cNvSpPr/>
              <p:nvPr/>
            </p:nvSpPr>
            <p:spPr>
              <a:xfrm rot="4282667">
                <a:off x="11445424" y="4367449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626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193185" y="4652565"/>
            <a:ext cx="7363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Corbel" panose="020B0503020204020204" pitchFamily="34" charset="0"/>
              </a:rPr>
              <a:t>The Impact of Combinations of Anticancer Drugs </a:t>
            </a:r>
            <a:endParaRPr lang="zh-CN" altLang="en-US" sz="28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37005" y="5302786"/>
            <a:ext cx="2275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WANG Chuning</a:t>
            </a:r>
            <a:endParaRPr lang="zh-CN" altLang="en-US" sz="2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832194" y="5239285"/>
            <a:ext cx="4527612" cy="0"/>
          </a:xfrm>
          <a:prstGeom prst="line">
            <a:avLst/>
          </a:prstGeom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2461318" y="1072529"/>
            <a:ext cx="6744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Case Study in </a:t>
            </a:r>
          </a:p>
          <a:p>
            <a:pPr algn="ctr"/>
            <a:r>
              <a:rPr lang="en-US" altLang="zh-CN" sz="5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Statistical Learning </a:t>
            </a:r>
          </a:p>
          <a:p>
            <a:pPr algn="ctr"/>
            <a:r>
              <a:rPr lang="en-US" altLang="zh-CN" sz="5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with </a:t>
            </a:r>
          </a:p>
          <a:p>
            <a:pPr algn="ctr"/>
            <a:r>
              <a:rPr lang="en-US" altLang="zh-CN" sz="5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Experimental Design</a:t>
            </a:r>
          </a:p>
        </p:txBody>
      </p:sp>
    </p:spTree>
    <p:extLst>
      <p:ext uri="{BB962C8B-B14F-4D97-AF65-F5344CB8AC3E}">
        <p14:creationId xmlns:p14="http://schemas.microsoft.com/office/powerpoint/2010/main" val="2306230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702833" y="2354551"/>
            <a:ext cx="48491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Experimental Design</a:t>
            </a:r>
            <a:endParaRPr lang="zh-CN" altLang="en-US" sz="6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432301" y="2269049"/>
            <a:ext cx="3314699" cy="0"/>
          </a:xfrm>
          <a:prstGeom prst="line">
            <a:avLst/>
          </a:prstGeom>
          <a:ln w="76200"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432299" y="4467117"/>
            <a:ext cx="3314699" cy="0"/>
          </a:xfrm>
          <a:prstGeom prst="line">
            <a:avLst/>
          </a:prstGeom>
          <a:ln w="76200"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1762614" y="1676400"/>
            <a:ext cx="1404151" cy="520700"/>
            <a:chOff x="283866" y="1128037"/>
            <a:chExt cx="2882900" cy="1069063"/>
          </a:xfrm>
        </p:grpSpPr>
        <p:sp>
          <p:nvSpPr>
            <p:cNvPr id="20" name="矩形 19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665866" y="1516518"/>
            <a:ext cx="2882900" cy="1069063"/>
            <a:chOff x="283866" y="1128037"/>
            <a:chExt cx="2882900" cy="1069063"/>
          </a:xfrm>
        </p:grpSpPr>
        <p:sp>
          <p:nvSpPr>
            <p:cNvPr id="23" name="矩形 22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189695" y="5719994"/>
            <a:ext cx="2882900" cy="1069063"/>
            <a:chOff x="283866" y="1128037"/>
            <a:chExt cx="2882900" cy="1069063"/>
          </a:xfrm>
        </p:grpSpPr>
        <p:sp>
          <p:nvSpPr>
            <p:cNvPr id="26" name="矩形 25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89650" y="170455"/>
            <a:ext cx="2882900" cy="1069063"/>
            <a:chOff x="283866" y="1128037"/>
            <a:chExt cx="2882900" cy="1069063"/>
          </a:xfrm>
        </p:grpSpPr>
        <p:sp>
          <p:nvSpPr>
            <p:cNvPr id="29" name="矩形 28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381775" y="1389775"/>
            <a:ext cx="737049" cy="273319"/>
            <a:chOff x="283866" y="1128037"/>
            <a:chExt cx="2882900" cy="1069063"/>
          </a:xfrm>
        </p:grpSpPr>
        <p:sp>
          <p:nvSpPr>
            <p:cNvPr id="32" name="矩形 31"/>
            <p:cNvSpPr/>
            <p:nvPr/>
          </p:nvSpPr>
          <p:spPr>
            <a:xfrm rot="19634015">
              <a:off x="283866" y="1128037"/>
              <a:ext cx="2882900" cy="289159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738791" y="4026046"/>
            <a:ext cx="737049" cy="273319"/>
            <a:chOff x="283866" y="1128037"/>
            <a:chExt cx="2882900" cy="1069063"/>
          </a:xfrm>
        </p:grpSpPr>
        <p:sp>
          <p:nvSpPr>
            <p:cNvPr id="35" name="矩形 34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208961" y="5416696"/>
            <a:ext cx="737049" cy="273319"/>
            <a:chOff x="283866" y="1128037"/>
            <a:chExt cx="2882900" cy="1069063"/>
          </a:xfrm>
        </p:grpSpPr>
        <p:sp>
          <p:nvSpPr>
            <p:cNvPr id="38" name="矩形 37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893090" y="3690154"/>
            <a:ext cx="2882900" cy="1069063"/>
            <a:chOff x="283866" y="1128037"/>
            <a:chExt cx="2882900" cy="1069063"/>
          </a:xfrm>
        </p:grpSpPr>
        <p:sp>
          <p:nvSpPr>
            <p:cNvPr id="41" name="矩形 40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88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文本框 114"/>
          <p:cNvSpPr txBox="1"/>
          <p:nvPr/>
        </p:nvSpPr>
        <p:spPr>
          <a:xfrm>
            <a:off x="156738" y="2767280"/>
            <a:ext cx="37245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Training Data Selected (2)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727" y="0"/>
            <a:ext cx="8122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4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14259" y="4145122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321547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Something here</a:t>
            </a:r>
            <a:endParaRPr lang="zh-CN" altLang="en-US" sz="1600" b="1" dirty="0">
              <a:solidFill>
                <a:srgbClr val="321547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98131" y="4145122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321547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Something here</a:t>
            </a:r>
            <a:endParaRPr lang="zh-CN" altLang="en-US" sz="1600" b="1" dirty="0">
              <a:solidFill>
                <a:srgbClr val="321547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82003" y="4145122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321547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Something here</a:t>
            </a:r>
            <a:endParaRPr lang="zh-CN" altLang="en-US" sz="1600" b="1" dirty="0">
              <a:solidFill>
                <a:srgbClr val="321547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-232839" y="2544684"/>
            <a:ext cx="41882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Training Data Selected Randomly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816" y="0"/>
            <a:ext cx="8133184" cy="686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8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901116" y="2693516"/>
            <a:ext cx="43770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Result</a:t>
            </a:r>
            <a:endParaRPr lang="zh-CN" altLang="en-US" sz="6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432299" y="2728129"/>
            <a:ext cx="3314699" cy="0"/>
          </a:xfrm>
          <a:prstGeom prst="line">
            <a:avLst/>
          </a:prstGeom>
          <a:ln w="76200"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432298" y="3849592"/>
            <a:ext cx="3314699" cy="0"/>
          </a:xfrm>
          <a:prstGeom prst="line">
            <a:avLst/>
          </a:prstGeom>
          <a:ln w="76200"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1762614" y="1676400"/>
            <a:ext cx="1404151" cy="520700"/>
            <a:chOff x="283866" y="1128037"/>
            <a:chExt cx="2882900" cy="1069063"/>
          </a:xfrm>
        </p:grpSpPr>
        <p:sp>
          <p:nvSpPr>
            <p:cNvPr id="20" name="矩形 19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665866" y="1516518"/>
            <a:ext cx="2882900" cy="1069063"/>
            <a:chOff x="283866" y="1128037"/>
            <a:chExt cx="2882900" cy="1069063"/>
          </a:xfrm>
        </p:grpSpPr>
        <p:sp>
          <p:nvSpPr>
            <p:cNvPr id="23" name="矩形 22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189695" y="5719994"/>
            <a:ext cx="2882900" cy="1069063"/>
            <a:chOff x="283866" y="1128037"/>
            <a:chExt cx="2882900" cy="1069063"/>
          </a:xfrm>
        </p:grpSpPr>
        <p:sp>
          <p:nvSpPr>
            <p:cNvPr id="26" name="矩形 25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89650" y="170455"/>
            <a:ext cx="2882900" cy="1069063"/>
            <a:chOff x="283866" y="1128037"/>
            <a:chExt cx="2882900" cy="1069063"/>
          </a:xfrm>
        </p:grpSpPr>
        <p:sp>
          <p:nvSpPr>
            <p:cNvPr id="29" name="矩形 28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381775" y="1389775"/>
            <a:ext cx="737049" cy="273319"/>
            <a:chOff x="283866" y="1128037"/>
            <a:chExt cx="2882900" cy="1069063"/>
          </a:xfrm>
        </p:grpSpPr>
        <p:sp>
          <p:nvSpPr>
            <p:cNvPr id="32" name="矩形 31"/>
            <p:cNvSpPr/>
            <p:nvPr/>
          </p:nvSpPr>
          <p:spPr>
            <a:xfrm rot="19634015">
              <a:off x="283866" y="1128037"/>
              <a:ext cx="2882900" cy="289159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738791" y="4026046"/>
            <a:ext cx="737049" cy="273319"/>
            <a:chOff x="283866" y="1128037"/>
            <a:chExt cx="2882900" cy="1069063"/>
          </a:xfrm>
        </p:grpSpPr>
        <p:sp>
          <p:nvSpPr>
            <p:cNvPr id="35" name="矩形 34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208961" y="5416696"/>
            <a:ext cx="737049" cy="273319"/>
            <a:chOff x="283866" y="1128037"/>
            <a:chExt cx="2882900" cy="1069063"/>
          </a:xfrm>
        </p:grpSpPr>
        <p:sp>
          <p:nvSpPr>
            <p:cNvPr id="38" name="矩形 37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893090" y="3690154"/>
            <a:ext cx="2882900" cy="1069063"/>
            <a:chOff x="283866" y="1128037"/>
            <a:chExt cx="2882900" cy="1069063"/>
          </a:xfrm>
        </p:grpSpPr>
        <p:sp>
          <p:nvSpPr>
            <p:cNvPr id="41" name="矩形 40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7259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082345" y="1013125"/>
            <a:ext cx="5989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Ridge Regression (2)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62593" y="4974277"/>
            <a:ext cx="422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Bell MT" panose="02020503060305020303" pitchFamily="18" charset="0"/>
              </a:rPr>
              <a:t>V, VM,</a:t>
            </a:r>
            <a:r>
              <a:rPr lang="zh-CN" altLang="en-US" sz="3200" dirty="0">
                <a:solidFill>
                  <a:schemeClr val="bg1"/>
                </a:solidFill>
                <a:latin typeface="Bell MT" panose="02020503060305020303" pitchFamily="18" charset="0"/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latin typeface="Bell MT" panose="02020503060305020303" pitchFamily="18" charset="0"/>
              </a:rPr>
              <a:t>MD, E, EE</a:t>
            </a:r>
            <a:endParaRPr lang="zh-CN" altLang="en-US" sz="32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" t="7034"/>
          <a:stretch/>
        </p:blipFill>
        <p:spPr>
          <a:xfrm>
            <a:off x="1250301" y="2883160"/>
            <a:ext cx="9653539" cy="92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13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287"/>
            <a:ext cx="12192000" cy="6385658"/>
          </a:xfrm>
        </p:spPr>
      </p:pic>
    </p:spTree>
    <p:extLst>
      <p:ext uri="{BB962C8B-B14F-4D97-AF65-F5344CB8AC3E}">
        <p14:creationId xmlns:p14="http://schemas.microsoft.com/office/powerpoint/2010/main" val="30326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087188" y="1077348"/>
            <a:ext cx="8434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Original Result of Ridge Regression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89748" y="4879799"/>
            <a:ext cx="422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Bell MT" panose="02020503060305020303" pitchFamily="18" charset="0"/>
              </a:rPr>
              <a:t>V, M, E, VM, D</a:t>
            </a:r>
            <a:endParaRPr lang="zh-CN" altLang="en-US" sz="32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559" t="78377" r="53723" b="9566"/>
          <a:stretch/>
        </p:blipFill>
        <p:spPr>
          <a:xfrm>
            <a:off x="1987023" y="2690193"/>
            <a:ext cx="8660022" cy="128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79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869"/>
            <a:ext cx="12192000" cy="650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30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143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258810" y="592692"/>
            <a:ext cx="75756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Ridge Regression with </a:t>
            </a:r>
          </a:p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Random Chosen Training Data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  <a:p>
            <a:pPr algn="ctr"/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89749" y="4713350"/>
            <a:ext cx="422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Bell MT" panose="02020503060305020303" pitchFamily="18" charset="0"/>
              </a:rPr>
              <a:t>VM, MD, VE, V, VD</a:t>
            </a:r>
            <a:endParaRPr lang="zh-CN" altLang="en-US" sz="32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4" b="9776"/>
          <a:stretch/>
        </p:blipFill>
        <p:spPr>
          <a:xfrm>
            <a:off x="1197111" y="2775669"/>
            <a:ext cx="10214229" cy="94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311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99" y="2691606"/>
            <a:ext cx="10394002" cy="2440231"/>
          </a:xfrm>
          <a:prstGeom prst="rect">
            <a:avLst/>
          </a:prstGeom>
        </p:spPr>
      </p:pic>
      <p:sp>
        <p:nvSpPr>
          <p:cNvPr id="64" name="文本框 11"/>
          <p:cNvSpPr txBox="1"/>
          <p:nvPr/>
        </p:nvSpPr>
        <p:spPr>
          <a:xfrm>
            <a:off x="3016669" y="781125"/>
            <a:ext cx="615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Lasso Regression (2)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800808" y="3303036"/>
            <a:ext cx="298580" cy="2612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0512415" y="2883159"/>
            <a:ext cx="298579" cy="2519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274628" y="2883158"/>
            <a:ext cx="289249" cy="2519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02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049" y="0"/>
            <a:ext cx="9144000" cy="6858000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2133600" y="689811"/>
            <a:ext cx="224589" cy="2245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133600" y="914400"/>
            <a:ext cx="224589" cy="2425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133600" y="5766318"/>
            <a:ext cx="224589" cy="2239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138592" y="3013787"/>
            <a:ext cx="214604" cy="20527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605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1574"/>
            <a:ext cx="12212783" cy="620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33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5452" y="156855"/>
            <a:ext cx="10515600" cy="710891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Original Result of Lasso Regression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pic>
        <p:nvPicPr>
          <p:cNvPr id="8" name="內容版面配置區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252" y="1112614"/>
            <a:ext cx="9144000" cy="5213541"/>
          </a:xfrm>
        </p:spPr>
      </p:pic>
    </p:spTree>
    <p:extLst>
      <p:ext uri="{BB962C8B-B14F-4D97-AF65-F5344CB8AC3E}">
        <p14:creationId xmlns:p14="http://schemas.microsoft.com/office/powerpoint/2010/main" val="1557697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15434" y="486947"/>
            <a:ext cx="7055380" cy="1400530"/>
          </a:xfrm>
        </p:spPr>
        <p:txBody>
          <a:bodyPr/>
          <a:lstStyle/>
          <a:p>
            <a:r>
              <a:rPr lang="en-US" altLang="zh-CN" sz="4000" dirty="0"/>
              <a:t>Lasso Regression</a:t>
            </a:r>
            <a:endParaRPr lang="en-US" sz="4000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271" y="0"/>
            <a:ext cx="10444397" cy="6339084"/>
          </a:xfrm>
          <a:prstGeom prst="rect">
            <a:avLst/>
          </a:prstGeom>
        </p:spPr>
      </p:pic>
      <p:cxnSp>
        <p:nvCxnSpPr>
          <p:cNvPr id="9" name="直線接點 8"/>
          <p:cNvCxnSpPr/>
          <p:nvPr/>
        </p:nvCxnSpPr>
        <p:spPr>
          <a:xfrm>
            <a:off x="7086928" y="486947"/>
            <a:ext cx="13854" cy="50846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H="1">
            <a:off x="1705787" y="695283"/>
            <a:ext cx="6724" cy="49485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6033469" y="6398634"/>
            <a:ext cx="29075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λ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giving </a:t>
            </a:r>
            <a:r>
              <a:rPr lang="en-US" altLang="zh-CN" sz="2000" dirty="0">
                <a:solidFill>
                  <a:schemeClr val="bg1"/>
                </a:solidFill>
                <a:latin typeface="Corbel" panose="020B0503020204020204" pitchFamily="34" charset="0"/>
              </a:rPr>
              <a:t>sparse model</a:t>
            </a:r>
            <a:endParaRPr lang="zh-CN" altLang="en-US" sz="20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554360" y="6398634"/>
            <a:ext cx="2104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λ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rbel" panose="020B0503020204020204" pitchFamily="34" charset="0"/>
              </a:rPr>
              <a:t>minimizing MSE</a:t>
            </a:r>
            <a:endParaRPr lang="zh-CN" altLang="en-US" sz="20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760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11"/>
          <p:cNvSpPr txBox="1"/>
          <p:nvPr/>
        </p:nvSpPr>
        <p:spPr>
          <a:xfrm>
            <a:off x="2369976" y="855771"/>
            <a:ext cx="75671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Lasso Regression with </a:t>
            </a:r>
          </a:p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Random Chosen Training Data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" r="1481"/>
          <a:stretch/>
        </p:blipFill>
        <p:spPr>
          <a:xfrm>
            <a:off x="881227" y="2790645"/>
            <a:ext cx="10544623" cy="201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548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15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1"/>
          <p:cNvSpPr txBox="1"/>
          <p:nvPr/>
        </p:nvSpPr>
        <p:spPr>
          <a:xfrm>
            <a:off x="94289" y="1843950"/>
            <a:ext cx="29537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Multi-Layer Perceptron neural network (MLP) (2)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1" y="-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28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1"/>
          <p:cNvSpPr txBox="1"/>
          <p:nvPr/>
        </p:nvSpPr>
        <p:spPr>
          <a:xfrm>
            <a:off x="292246" y="2457696"/>
            <a:ext cx="27328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Original Result of MLP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pic>
        <p:nvPicPr>
          <p:cNvPr id="4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5134" y="-3616"/>
            <a:ext cx="9166866" cy="686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78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1"/>
          <p:cNvSpPr txBox="1"/>
          <p:nvPr/>
        </p:nvSpPr>
        <p:spPr>
          <a:xfrm>
            <a:off x="251926" y="1843950"/>
            <a:ext cx="245395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MLP with Random Chosen Training Data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157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11"/>
          <p:cNvSpPr txBox="1"/>
          <p:nvPr/>
        </p:nvSpPr>
        <p:spPr>
          <a:xfrm>
            <a:off x="3644501" y="754615"/>
            <a:ext cx="48743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Random Forest (2)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448" y="2439799"/>
            <a:ext cx="3604454" cy="352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72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856" y="1637326"/>
            <a:ext cx="9144000" cy="4584191"/>
          </a:xfrm>
        </p:spPr>
      </p:pic>
      <p:sp>
        <p:nvSpPr>
          <p:cNvPr id="5" name="文本框 11"/>
          <p:cNvSpPr txBox="1"/>
          <p:nvPr/>
        </p:nvSpPr>
        <p:spPr>
          <a:xfrm>
            <a:off x="990024" y="382365"/>
            <a:ext cx="106496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Original Result of Random Forest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cxnSp>
        <p:nvCxnSpPr>
          <p:cNvPr id="4" name="直線接點 3"/>
          <p:cNvCxnSpPr/>
          <p:nvPr/>
        </p:nvCxnSpPr>
        <p:spPr>
          <a:xfrm flipV="1">
            <a:off x="2521892" y="2456942"/>
            <a:ext cx="6504709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 flipV="1">
            <a:off x="2547156" y="3738080"/>
            <a:ext cx="6420971" cy="13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2521892" y="3180027"/>
            <a:ext cx="6432788" cy="26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875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1"/>
          <p:cNvSpPr txBox="1"/>
          <p:nvPr/>
        </p:nvSpPr>
        <p:spPr>
          <a:xfrm>
            <a:off x="1795731" y="382365"/>
            <a:ext cx="80947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Random Forest with Random Chosen Training Data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812" y="2217907"/>
            <a:ext cx="3588556" cy="3745148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4048812" y="4982547"/>
            <a:ext cx="328635" cy="28011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071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001890" y="1216745"/>
            <a:ext cx="441106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Mean Squared</a:t>
            </a:r>
          </a:p>
          <a:p>
            <a:pPr algn="ctr"/>
            <a:r>
              <a:rPr lang="en-US" altLang="zh-CN" sz="88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Error</a:t>
            </a:r>
            <a:endParaRPr lang="zh-CN" altLang="en-US" sz="88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516734" y="1093468"/>
            <a:ext cx="3314699" cy="0"/>
          </a:xfrm>
          <a:prstGeom prst="line">
            <a:avLst/>
          </a:prstGeom>
          <a:ln w="76200"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406417" y="5448419"/>
            <a:ext cx="3314699" cy="0"/>
          </a:xfrm>
          <a:prstGeom prst="line">
            <a:avLst/>
          </a:prstGeom>
          <a:ln w="76200"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1762614" y="1676400"/>
            <a:ext cx="1404151" cy="520700"/>
            <a:chOff x="283866" y="1128037"/>
            <a:chExt cx="2882900" cy="1069063"/>
          </a:xfrm>
        </p:grpSpPr>
        <p:sp>
          <p:nvSpPr>
            <p:cNvPr id="20" name="矩形 19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834019" y="1651477"/>
            <a:ext cx="2882900" cy="1069063"/>
            <a:chOff x="283866" y="1128037"/>
            <a:chExt cx="2882900" cy="1069063"/>
          </a:xfrm>
        </p:grpSpPr>
        <p:sp>
          <p:nvSpPr>
            <p:cNvPr id="23" name="矩形 22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867399" y="4919127"/>
            <a:ext cx="2882900" cy="1069063"/>
            <a:chOff x="283866" y="1128037"/>
            <a:chExt cx="2882900" cy="1069063"/>
          </a:xfrm>
        </p:grpSpPr>
        <p:sp>
          <p:nvSpPr>
            <p:cNvPr id="26" name="矩形 25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89650" y="170455"/>
            <a:ext cx="2882900" cy="1069063"/>
            <a:chOff x="283866" y="1128037"/>
            <a:chExt cx="2882900" cy="1069063"/>
          </a:xfrm>
        </p:grpSpPr>
        <p:sp>
          <p:nvSpPr>
            <p:cNvPr id="29" name="矩形 28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381775" y="1389775"/>
            <a:ext cx="737049" cy="273319"/>
            <a:chOff x="283866" y="1128037"/>
            <a:chExt cx="2882900" cy="1069063"/>
          </a:xfrm>
        </p:grpSpPr>
        <p:sp>
          <p:nvSpPr>
            <p:cNvPr id="32" name="矩形 31"/>
            <p:cNvSpPr/>
            <p:nvPr/>
          </p:nvSpPr>
          <p:spPr>
            <a:xfrm rot="19634015">
              <a:off x="283866" y="1128037"/>
              <a:ext cx="2882900" cy="289159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738791" y="4026046"/>
            <a:ext cx="737049" cy="273319"/>
            <a:chOff x="283866" y="1128037"/>
            <a:chExt cx="2882900" cy="1069063"/>
          </a:xfrm>
        </p:grpSpPr>
        <p:sp>
          <p:nvSpPr>
            <p:cNvPr id="35" name="矩形 34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208961" y="5416696"/>
            <a:ext cx="737049" cy="273319"/>
            <a:chOff x="283866" y="1128037"/>
            <a:chExt cx="2882900" cy="1069063"/>
          </a:xfrm>
        </p:grpSpPr>
        <p:sp>
          <p:nvSpPr>
            <p:cNvPr id="38" name="矩形 37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893090" y="3690154"/>
            <a:ext cx="2882900" cy="1069063"/>
            <a:chOff x="283866" y="1128037"/>
            <a:chExt cx="2882900" cy="1069063"/>
          </a:xfrm>
        </p:grpSpPr>
        <p:sp>
          <p:nvSpPr>
            <p:cNvPr id="41" name="矩形 40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6476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6"/>
          <p:cNvSpPr txBox="1"/>
          <p:nvPr/>
        </p:nvSpPr>
        <p:spPr>
          <a:xfrm>
            <a:off x="3453741" y="1031882"/>
            <a:ext cx="474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Original MSE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pic>
        <p:nvPicPr>
          <p:cNvPr id="19" name="內容版面配置區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2" r="65494" b="40639"/>
          <a:stretch/>
        </p:blipFill>
        <p:spPr>
          <a:xfrm>
            <a:off x="5031649" y="2953007"/>
            <a:ext cx="1982213" cy="2434284"/>
          </a:xfrm>
          <a:prstGeom prst="rect">
            <a:avLst/>
          </a:prstGeom>
        </p:spPr>
      </p:pic>
      <p:sp>
        <p:nvSpPr>
          <p:cNvPr id="20" name="文本框 6"/>
          <p:cNvSpPr txBox="1"/>
          <p:nvPr/>
        </p:nvSpPr>
        <p:spPr>
          <a:xfrm>
            <a:off x="6696723" y="1015129"/>
            <a:ext cx="615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MSE (Random)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578" y="2953007"/>
            <a:ext cx="2062952" cy="243428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49899" y="1015129"/>
            <a:ext cx="21990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Bell MT" panose="02020503060305020303" pitchFamily="18" charset="0"/>
                <a:ea typeface="华文细黑" panose="02010600040101010101" pitchFamily="2" charset="-122"/>
              </a:rPr>
              <a:t>MSE (2)</a:t>
            </a:r>
            <a:endParaRPr lang="zh-CN" altLang="en-US" sz="4000" b="1" dirty="0">
              <a:solidFill>
                <a:srgbClr val="00CCFF"/>
              </a:solidFill>
              <a:latin typeface="Bell MT" panose="02020503060305020303" pitchFamily="18" charset="0"/>
              <a:ea typeface="华文细黑" panose="0201060004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03" b="-686"/>
          <a:stretch/>
        </p:blipFill>
        <p:spPr>
          <a:xfrm>
            <a:off x="999751" y="2933968"/>
            <a:ext cx="2149175" cy="245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20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8772</TotalTime>
  <Words>157</Words>
  <Application>Microsoft Office PowerPoint</Application>
  <PresentationFormat>宽屏</PresentationFormat>
  <Paragraphs>39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新細明體</vt:lpstr>
      <vt:lpstr>等线</vt:lpstr>
      <vt:lpstr>等线 Light</vt:lpstr>
      <vt:lpstr>华文细黑</vt:lpstr>
      <vt:lpstr>Arial</vt:lpstr>
      <vt:lpstr>Bell MT</vt:lpstr>
      <vt:lpstr>Calibri</vt:lpstr>
      <vt:lpstr>Calibri Light</vt:lpstr>
      <vt:lpstr>Corbel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Original Result of Lasso Regression</vt:lpstr>
      <vt:lpstr>Lasso Regression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Chuning WANG</cp:lastModifiedBy>
  <cp:revision>132</cp:revision>
  <dcterms:created xsi:type="dcterms:W3CDTF">2016-05-29T05:24:16Z</dcterms:created>
  <dcterms:modified xsi:type="dcterms:W3CDTF">2017-01-01T04:33:27Z</dcterms:modified>
</cp:coreProperties>
</file>